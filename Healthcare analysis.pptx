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3" r:id="rId3"/>
    <p:sldId id="264" r:id="rId4"/>
    <p:sldId id="265" r:id="rId5"/>
    <p:sldId id="266" r:id="rId6"/>
    <p:sldId id="268" r:id="rId7"/>
    <p:sldId id="269" r:id="rId8"/>
    <p:sldId id="270" r:id="rId9"/>
    <p:sldId id="257" r:id="rId10"/>
    <p:sldId id="258" r:id="rId11"/>
    <p:sldId id="259" r:id="rId12"/>
    <p:sldId id="260" r:id="rId13"/>
    <p:sldId id="261" r:id="rId14"/>
    <p:sldId id="262" r:id="rId15"/>
    <p:sldId id="271" r:id="rId16"/>
    <p:sldId id="273" r:id="rId17"/>
    <p:sldId id="27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4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88828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1"/>
            <a:ext cx="23044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5936" y="1122363"/>
            <a:ext cx="8789286" cy="2387600"/>
          </a:xfrm>
        </p:spPr>
        <p:txBody>
          <a:bodyPr anchor="b">
            <a:normAutofit/>
          </a:bodyPr>
          <a:lstStyle>
            <a:lvl1pPr algn="l"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5936" y="3602038"/>
            <a:ext cx="8789286" cy="1655762"/>
          </a:xfrm>
        </p:spPr>
        <p:txBody>
          <a:bodyPr>
            <a:normAutofit/>
          </a:bodyPr>
          <a:lstStyle>
            <a:lvl1pPr marL="0" indent="0" algn="l">
              <a:buNone/>
              <a:defRPr sz="1999" cap="all" baseline="0">
                <a:solidFill>
                  <a:schemeClr val="tx2"/>
                </a:solidFill>
              </a:defRPr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5668" y="5410202"/>
            <a:ext cx="274248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5936" y="5410202"/>
            <a:ext cx="51235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4334" y="5410200"/>
            <a:ext cx="77088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087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14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4" y="1419227"/>
            <a:ext cx="9903420" cy="2852737"/>
          </a:xfrm>
        </p:spPr>
        <p:txBody>
          <a:bodyPr anchor="b">
            <a:norm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4" y="4424362"/>
            <a:ext cx="9903420" cy="1374776"/>
          </a:xfrm>
        </p:spPr>
        <p:txBody>
          <a:bodyPr>
            <a:normAutofit/>
          </a:bodyPr>
          <a:lstStyle>
            <a:lvl1pPr marL="0" indent="0">
              <a:buNone/>
              <a:defRPr sz="1799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5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113" y="2249486"/>
            <a:ext cx="487711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3" y="2249486"/>
            <a:ext cx="487394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052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4" y="619127"/>
            <a:ext cx="990342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663" y="2249486"/>
            <a:ext cx="464857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3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113" y="3073398"/>
            <a:ext cx="487712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9141" y="2249485"/>
            <a:ext cx="464539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3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3073398"/>
            <a:ext cx="487394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671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19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97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407" y="609601"/>
            <a:ext cx="3855033" cy="1639884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4858" y="592666"/>
            <a:ext cx="5889675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407" y="2249486"/>
            <a:ext cx="3855033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551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6" y="609600"/>
            <a:ext cx="5932963" cy="1639886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78799" y="609602"/>
            <a:ext cx="3665735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113" y="2249486"/>
            <a:ext cx="5932966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1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3" y="4304665"/>
            <a:ext cx="9909774" cy="819355"/>
          </a:xfrm>
        </p:spPr>
        <p:txBody>
          <a:bodyPr anchor="b">
            <a:normAutofit/>
          </a:bodyPr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114" y="606426"/>
            <a:ext cx="9909773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199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067" y="5124020"/>
            <a:ext cx="9908278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98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59" y="609600"/>
            <a:ext cx="9903375" cy="3429000"/>
          </a:xfrm>
        </p:spPr>
        <p:txBody>
          <a:bodyPr anchor="ctr">
            <a:norm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113" y="4419600"/>
            <a:ext cx="9901880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25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609600"/>
            <a:ext cx="9300329" cy="2748429"/>
          </a:xfrm>
        </p:spPr>
        <p:txBody>
          <a:bodyPr anchor="ctr">
            <a:norm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196" y="3365557"/>
            <a:ext cx="8750020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114" y="4309919"/>
            <a:ext cx="990342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277" y="732394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4626" y="2764972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7780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3" y="2134042"/>
            <a:ext cx="9903421" cy="2511835"/>
          </a:xfrm>
        </p:spPr>
        <p:txBody>
          <a:bodyPr anchor="b">
            <a:norm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067" y="4657655"/>
            <a:ext cx="9901926" cy="1140644"/>
          </a:xfrm>
        </p:spPr>
        <p:txBody>
          <a:bodyPr anchor="t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478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116" y="609600"/>
            <a:ext cx="990341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113" y="2674463"/>
            <a:ext cx="319606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3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625" y="3360263"/>
            <a:ext cx="3207899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3591" y="2677635"/>
            <a:ext cx="318355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3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3040" y="3363435"/>
            <a:ext cx="319499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0397" y="2674463"/>
            <a:ext cx="319413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3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0397" y="3360263"/>
            <a:ext cx="319413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7104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114" y="609600"/>
            <a:ext cx="990341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116" y="4404596"/>
            <a:ext cx="3194408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9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116" y="2666998"/>
            <a:ext cx="3194408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999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116" y="4980859"/>
            <a:ext cx="3194408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7884" y="4404596"/>
            <a:ext cx="3199567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9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7884" y="2666998"/>
            <a:ext cx="319810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999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6424" y="4980857"/>
            <a:ext cx="3199567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0523" y="4404595"/>
            <a:ext cx="318991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9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0398" y="2666998"/>
            <a:ext cx="319413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999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0397" y="4980855"/>
            <a:ext cx="319413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749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6593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0046" y="609600"/>
            <a:ext cx="2004489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113" y="609600"/>
            <a:ext cx="7746572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531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88828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4" y="1"/>
            <a:ext cx="12050749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116" y="618518"/>
            <a:ext cx="990341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5" y="2249487"/>
            <a:ext cx="990341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4979" y="5883277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114" y="5883276"/>
            <a:ext cx="62376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3645" y="5883275"/>
            <a:ext cx="770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915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3599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7292" y="227774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HEALTH CARE </a:t>
            </a:r>
            <a:r>
              <a:rPr dirty="0"/>
              <a:t>Data Analysis Insights –SQL</a:t>
            </a:r>
            <a:r>
              <a:rPr lang="en-US" dirty="0"/>
              <a:t> </a:t>
            </a:r>
            <a:r>
              <a:rPr lang="en-IN" dirty="0"/>
              <a:t>+Python +  </a:t>
            </a:r>
            <a:r>
              <a:rPr lang="en-IN" dirty="0" err="1"/>
              <a:t>jupyter</a:t>
            </a:r>
            <a:r>
              <a:rPr lang="en-IN" dirty="0"/>
              <a:t> notebook</a:t>
            </a:r>
            <a:endParaRPr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300939-F7CE-D48F-7710-89271A0B3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5006" y="4580254"/>
            <a:ext cx="3351212" cy="1470026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By Yashwanth S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DA&amp;DS-JULY</a:t>
            </a:r>
            <a:endParaRPr lang="ta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EFDD50-2F9D-4F35-9491-200CAD79B658}"/>
              </a:ext>
            </a:extLst>
          </p:cNvPr>
          <p:cNvSpPr txBox="1"/>
          <p:nvPr/>
        </p:nvSpPr>
        <p:spPr>
          <a:xfrm>
            <a:off x="3238917" y="1182231"/>
            <a:ext cx="705852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Project Workflow</a:t>
            </a:r>
          </a:p>
          <a:p>
            <a:r>
              <a:rPr lang="en-IN" dirty="0"/>
              <a:t>1️⃣ </a:t>
            </a:r>
            <a:r>
              <a:rPr lang="en-IN" b="1" dirty="0"/>
              <a:t>Data Import</a:t>
            </a:r>
            <a:r>
              <a:rPr lang="en-IN" dirty="0"/>
              <a:t> – Load data using Pandas and SQL.</a:t>
            </a:r>
            <a:br>
              <a:rPr lang="en-IN" dirty="0"/>
            </a:br>
            <a:r>
              <a:rPr lang="en-IN" dirty="0"/>
              <a:t>2️⃣ </a:t>
            </a:r>
            <a:r>
              <a:rPr lang="en-IN" b="1" dirty="0"/>
              <a:t>Data Cleaning</a:t>
            </a:r>
            <a:r>
              <a:rPr lang="en-IN" dirty="0"/>
              <a:t> – Handle null values, remove duplicates.</a:t>
            </a:r>
            <a:br>
              <a:rPr lang="en-IN" dirty="0"/>
            </a:br>
            <a:r>
              <a:rPr lang="en-IN" dirty="0"/>
              <a:t>3️⃣ </a:t>
            </a:r>
            <a:r>
              <a:rPr lang="en-IN" b="1" dirty="0"/>
              <a:t>Data Analysis</a:t>
            </a:r>
            <a:r>
              <a:rPr lang="en-IN" dirty="0"/>
              <a:t> – Use Pandas + SQL queries to answer key questions.</a:t>
            </a:r>
            <a:br>
              <a:rPr lang="en-IN" dirty="0"/>
            </a:br>
            <a:r>
              <a:rPr lang="en-IN" dirty="0"/>
              <a:t>4️⃣ </a:t>
            </a:r>
            <a:r>
              <a:rPr lang="en-IN" b="1" dirty="0"/>
              <a:t>Visualization</a:t>
            </a:r>
            <a:r>
              <a:rPr lang="en-IN" dirty="0"/>
              <a:t> – Create meaningful charts.</a:t>
            </a:r>
            <a:br>
              <a:rPr lang="en-IN" dirty="0"/>
            </a:br>
            <a:r>
              <a:rPr lang="en-IN" dirty="0"/>
              <a:t>5️⃣ </a:t>
            </a:r>
            <a:r>
              <a:rPr lang="en-IN" b="1" dirty="0"/>
              <a:t>Insights</a:t>
            </a:r>
            <a:r>
              <a:rPr lang="en-IN" dirty="0"/>
              <a:t> – Derive business conclusions.</a:t>
            </a:r>
          </a:p>
          <a:p>
            <a:endParaRPr lang="ta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2194A8-E1CC-2E0F-6691-B7303E6E3FEA}"/>
              </a:ext>
            </a:extLst>
          </p:cNvPr>
          <p:cNvSpPr txBox="1"/>
          <p:nvPr/>
        </p:nvSpPr>
        <p:spPr>
          <a:xfrm>
            <a:off x="3238917" y="3925704"/>
            <a:ext cx="571098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Tools and Technologies Used</a:t>
            </a:r>
          </a:p>
          <a:p>
            <a:r>
              <a:rPr lang="en-IN" dirty="0"/>
              <a:t>🐍 </a:t>
            </a:r>
            <a:r>
              <a:rPr lang="en-IN" b="1" dirty="0"/>
              <a:t>Python</a:t>
            </a:r>
            <a:r>
              <a:rPr lang="en-IN" dirty="0"/>
              <a:t> – Data analysis &amp; manipulation</a:t>
            </a:r>
          </a:p>
          <a:p>
            <a:r>
              <a:rPr lang="en-IN" dirty="0"/>
              <a:t>🧮 </a:t>
            </a:r>
            <a:r>
              <a:rPr lang="en-IN" b="1" dirty="0"/>
              <a:t>Pandas</a:t>
            </a:r>
            <a:r>
              <a:rPr lang="en-IN" dirty="0"/>
              <a:t> – Data handling and aggregation</a:t>
            </a:r>
          </a:p>
          <a:p>
            <a:r>
              <a:rPr lang="en-IN" dirty="0"/>
              <a:t>🗄️ </a:t>
            </a:r>
            <a:r>
              <a:rPr lang="en-IN" b="1" dirty="0"/>
              <a:t>SQL Sever Studio</a:t>
            </a:r>
            <a:r>
              <a:rPr lang="en-IN" dirty="0"/>
              <a:t> –  Database &amp; Query-based analysis</a:t>
            </a:r>
          </a:p>
          <a:p>
            <a:r>
              <a:rPr lang="en-IN" dirty="0"/>
              <a:t>📈 </a:t>
            </a:r>
            <a:r>
              <a:rPr lang="en-IN" b="1" dirty="0"/>
              <a:t>Matplotlib / Seaborn</a:t>
            </a:r>
            <a:r>
              <a:rPr lang="en-IN" dirty="0"/>
              <a:t> – Data visualization</a:t>
            </a:r>
          </a:p>
          <a:p>
            <a:r>
              <a:rPr lang="en-IN" dirty="0"/>
              <a:t>🧑‍💻 </a:t>
            </a:r>
            <a:r>
              <a:rPr lang="en-IN" b="1" dirty="0" err="1"/>
              <a:t>Jupyter</a:t>
            </a:r>
            <a:r>
              <a:rPr lang="en-IN" b="1" dirty="0"/>
              <a:t> Notebook</a:t>
            </a:r>
            <a:r>
              <a:rPr lang="en-IN" dirty="0"/>
              <a:t> – Implementation environment</a:t>
            </a:r>
          </a:p>
        </p:txBody>
      </p:sp>
    </p:spTree>
    <p:extLst>
      <p:ext uri="{BB962C8B-B14F-4D97-AF65-F5344CB8AC3E}">
        <p14:creationId xmlns:p14="http://schemas.microsoft.com/office/powerpoint/2010/main" val="36624687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BAD86-BBB7-6078-A395-E3E7B0C4B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A734A7-C827-9517-6C1C-1BEA23E57C14}"/>
              </a:ext>
            </a:extLst>
          </p:cNvPr>
          <p:cNvSpPr txBox="1"/>
          <p:nvPr/>
        </p:nvSpPr>
        <p:spPr>
          <a:xfrm>
            <a:off x="1195136" y="548725"/>
            <a:ext cx="53277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rPr lang="en-US" dirty="0"/>
              <a:t>STEP 1 : DATABASE CONNECTION  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351F71-285A-9358-618F-FC9477944C7C}"/>
              </a:ext>
            </a:extLst>
          </p:cNvPr>
          <p:cNvSpPr txBox="1"/>
          <p:nvPr/>
        </p:nvSpPr>
        <p:spPr>
          <a:xfrm>
            <a:off x="1195136" y="1071945"/>
            <a:ext cx="979855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/>
            </a:pPr>
            <a:r>
              <a:rPr lang="en-US" dirty="0"/>
              <a:t>Dataset was uploaded in the SQL sever and connect to the </a:t>
            </a:r>
            <a:r>
              <a:rPr lang="en-US" dirty="0" err="1"/>
              <a:t>jupyter</a:t>
            </a:r>
            <a:r>
              <a:rPr lang="en-US" dirty="0"/>
              <a:t> notebook </a:t>
            </a:r>
          </a:p>
          <a:p>
            <a:pPr algn="l">
              <a:defRPr sz="2800"/>
            </a:pPr>
            <a:r>
              <a:rPr lang="en-US" dirty="0" err="1"/>
              <a:t>Pyodbc</a:t>
            </a:r>
            <a:r>
              <a:rPr lang="en-US" dirty="0"/>
              <a:t> – python opensource </a:t>
            </a:r>
            <a:r>
              <a:rPr lang="en-US" dirty="0" err="1"/>
              <a:t>databse</a:t>
            </a:r>
            <a:r>
              <a:rPr lang="en-US" dirty="0"/>
              <a:t> connection</a:t>
            </a:r>
          </a:p>
          <a:p>
            <a:pPr>
              <a:defRPr sz="2800"/>
            </a:pPr>
            <a:r>
              <a:rPr lang="en-US" dirty="0"/>
              <a:t>Syntex: </a:t>
            </a:r>
          </a:p>
          <a:p>
            <a:pPr>
              <a:defRPr sz="2800"/>
            </a:pPr>
            <a:r>
              <a:rPr lang="en-US" dirty="0"/>
              <a:t>import </a:t>
            </a:r>
            <a:r>
              <a:rPr lang="en-US" dirty="0" err="1"/>
              <a:t>pyodbc</a:t>
            </a:r>
            <a:r>
              <a:rPr lang="en-US" dirty="0"/>
              <a:t> </a:t>
            </a:r>
          </a:p>
          <a:p>
            <a:pPr>
              <a:defRPr sz="2800"/>
            </a:pPr>
            <a:r>
              <a:rPr lang="en-IN" dirty="0"/>
              <a:t>connection=</a:t>
            </a:r>
            <a:r>
              <a:rPr lang="en-IN" dirty="0" err="1"/>
              <a:t>pyodbc.connect</a:t>
            </a:r>
            <a:r>
              <a:rPr lang="en-IN" dirty="0"/>
              <a:t>(</a:t>
            </a:r>
          </a:p>
          <a:p>
            <a:pPr>
              <a:defRPr sz="2800"/>
            </a:pPr>
            <a:r>
              <a:rPr lang="en-IN" dirty="0"/>
              <a:t>	'DRIVER={ODBC Driver 17 for SQL Server};'    	'SERVER=localhost;'    'DATABASE=disease;'    	'</a:t>
            </a:r>
            <a:r>
              <a:rPr lang="en-IN" dirty="0" err="1"/>
              <a:t>Trusted_Connection</a:t>
            </a:r>
            <a:r>
              <a:rPr lang="en-IN" dirty="0"/>
              <a:t>=yes;’)</a:t>
            </a:r>
          </a:p>
          <a:p>
            <a:pPr>
              <a:defRPr sz="2800"/>
            </a:pPr>
            <a:r>
              <a:rPr lang="en-US" dirty="0"/>
              <a:t>query=" SELECT * FROM </a:t>
            </a:r>
            <a:r>
              <a:rPr lang="en-US" dirty="0" err="1"/>
              <a:t>healthcare_dataset</a:t>
            </a:r>
            <a:r>
              <a:rPr lang="en-US" dirty="0"/>
              <a:t>“</a:t>
            </a:r>
          </a:p>
          <a:p>
            <a:pPr>
              <a:defRPr sz="2800"/>
            </a:pPr>
            <a:r>
              <a:rPr lang="en-US" dirty="0" err="1"/>
              <a:t>df</a:t>
            </a:r>
            <a:r>
              <a:rPr lang="en-US" dirty="0"/>
              <a:t>=</a:t>
            </a:r>
            <a:r>
              <a:rPr lang="en-US" dirty="0" err="1"/>
              <a:t>pd.read_sql</a:t>
            </a:r>
            <a:r>
              <a:rPr lang="en-US" dirty="0"/>
              <a:t>(</a:t>
            </a:r>
            <a:r>
              <a:rPr lang="en-US" dirty="0" err="1"/>
              <a:t>query,connection</a:t>
            </a:r>
            <a:r>
              <a:rPr lang="en-US" dirty="0"/>
              <a:t>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38789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57C1B-A880-6B7A-4B94-871287E6D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9589BF-C29E-D70B-5245-6EE4BD681117}"/>
              </a:ext>
            </a:extLst>
          </p:cNvPr>
          <p:cNvSpPr txBox="1"/>
          <p:nvPr/>
        </p:nvSpPr>
        <p:spPr>
          <a:xfrm>
            <a:off x="1195136" y="930689"/>
            <a:ext cx="409919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rPr lang="en-US" dirty="0"/>
              <a:t>STEP 2 : DATA CLEANING  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7D791B-6583-A1C9-9C5F-854D3D30648D}"/>
              </a:ext>
            </a:extLst>
          </p:cNvPr>
          <p:cNvSpPr txBox="1"/>
          <p:nvPr/>
        </p:nvSpPr>
        <p:spPr>
          <a:xfrm>
            <a:off x="1195136" y="1718604"/>
            <a:ext cx="846221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/>
            </a:pPr>
            <a:r>
              <a:rPr lang="en-US" dirty="0"/>
              <a:t>Dataset has one mistaken data type </a:t>
            </a:r>
          </a:p>
          <a:p>
            <a:pPr algn="l">
              <a:defRPr sz="2800"/>
            </a:pPr>
            <a:r>
              <a:rPr lang="en-US" dirty="0"/>
              <a:t>By using pandas we change the correct datatype :</a:t>
            </a:r>
          </a:p>
          <a:p>
            <a:pPr algn="l">
              <a:defRPr sz="2800"/>
            </a:pPr>
            <a:r>
              <a:rPr lang="en-US" dirty="0"/>
              <a:t>Syntex:</a:t>
            </a:r>
          </a:p>
          <a:p>
            <a:pPr algn="l">
              <a:defRPr sz="2800"/>
            </a:pPr>
            <a:endParaRPr lang="en-US" dirty="0"/>
          </a:p>
          <a:p>
            <a:pPr>
              <a:defRPr sz="2800"/>
            </a:pPr>
            <a:r>
              <a:rPr lang="en-US" dirty="0" err="1"/>
              <a:t>df.dtypes</a:t>
            </a:r>
            <a:endParaRPr lang="en-US" dirty="0"/>
          </a:p>
          <a:p>
            <a:pPr>
              <a:defRPr sz="2800"/>
            </a:pPr>
            <a:r>
              <a:rPr lang="en-IN" dirty="0" err="1"/>
              <a:t>df</a:t>
            </a:r>
            <a:r>
              <a:rPr lang="en-IN" dirty="0"/>
              <a:t>['</a:t>
            </a:r>
            <a:r>
              <a:rPr lang="en-IN" dirty="0" err="1"/>
              <a:t>Visit_Date</a:t>
            </a:r>
            <a:r>
              <a:rPr lang="en-IN" dirty="0"/>
              <a:t>']=</a:t>
            </a:r>
            <a:r>
              <a:rPr lang="en-IN" dirty="0" err="1"/>
              <a:t>pd.to_datetime</a:t>
            </a:r>
            <a:r>
              <a:rPr lang="en-IN" dirty="0"/>
              <a:t>(</a:t>
            </a:r>
            <a:r>
              <a:rPr lang="en-IN" dirty="0" err="1"/>
              <a:t>df</a:t>
            </a:r>
            <a:r>
              <a:rPr lang="en-IN" dirty="0"/>
              <a:t>['</a:t>
            </a:r>
            <a:r>
              <a:rPr lang="en-IN" dirty="0" err="1"/>
              <a:t>Visit_Date</a:t>
            </a:r>
            <a:r>
              <a:rPr lang="en-IN" dirty="0"/>
              <a:t>'])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5788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1E0D0-5CF5-B557-3CFA-D4644F07F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9E4013-44E5-65F8-471F-14CEE3754058}"/>
              </a:ext>
            </a:extLst>
          </p:cNvPr>
          <p:cNvSpPr txBox="1"/>
          <p:nvPr/>
        </p:nvSpPr>
        <p:spPr>
          <a:xfrm>
            <a:off x="1195136" y="655732"/>
            <a:ext cx="398378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rPr lang="en-US" dirty="0"/>
              <a:t>STEP 4 : DATA ANALYSIS  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F7B0BB-4DC4-EA9D-EE62-C3A3962E0074}"/>
              </a:ext>
            </a:extLst>
          </p:cNvPr>
          <p:cNvSpPr txBox="1"/>
          <p:nvPr/>
        </p:nvSpPr>
        <p:spPr>
          <a:xfrm>
            <a:off x="1195136" y="1082018"/>
            <a:ext cx="939265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rPr lang="en-US" b="1" dirty="0"/>
              <a:t>Unique Patient Count</a:t>
            </a:r>
          </a:p>
          <a:p>
            <a:pPr>
              <a:defRPr sz="2800"/>
            </a:pPr>
            <a:r>
              <a:rPr lang="en-US" dirty="0"/>
              <a:t>Shows total distinct patients in the dataset.</a:t>
            </a:r>
          </a:p>
          <a:p>
            <a:pPr>
              <a:defRPr sz="2800"/>
            </a:pPr>
            <a:r>
              <a:rPr lang="en-US" dirty="0"/>
              <a:t>→ Helps understand sample size and avoid duplicate entries.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8D72F7-5C53-4AAB-8AF5-C1B2CA5CA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136" y="2467013"/>
            <a:ext cx="5858693" cy="12670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A883D3-4E85-F3E6-8E40-955DDD5B6348}"/>
              </a:ext>
            </a:extLst>
          </p:cNvPr>
          <p:cNvSpPr txBox="1"/>
          <p:nvPr/>
        </p:nvSpPr>
        <p:spPr>
          <a:xfrm>
            <a:off x="1195135" y="3734015"/>
            <a:ext cx="939265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rPr lang="en-US" b="1" dirty="0"/>
              <a:t>Average Age of Patients</a:t>
            </a:r>
          </a:p>
          <a:p>
            <a:pPr>
              <a:defRPr sz="2800"/>
            </a:pPr>
            <a:r>
              <a:rPr lang="en-US" dirty="0"/>
              <a:t>Calculates mean age from all records.</a:t>
            </a:r>
          </a:p>
          <a:p>
            <a:pPr>
              <a:defRPr sz="2800"/>
            </a:pPr>
            <a:r>
              <a:rPr lang="en-US" dirty="0"/>
              <a:t>→ Reveals general age trend of patients treated.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B5084E-2F51-09CA-7F1B-AC54E731E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136" y="5142481"/>
            <a:ext cx="7659169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7441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E9A75-6FD9-E055-8470-DE197BF9D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5F9F22-5976-D96A-F495-8D766DFE32BF}"/>
              </a:ext>
            </a:extLst>
          </p:cNvPr>
          <p:cNvSpPr txBox="1"/>
          <p:nvPr/>
        </p:nvSpPr>
        <p:spPr>
          <a:xfrm>
            <a:off x="1667576" y="682284"/>
            <a:ext cx="938142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rPr lang="en-US" b="1" dirty="0"/>
              <a:t>Satisfaction Score Range by Diagnosis</a:t>
            </a:r>
          </a:p>
          <a:p>
            <a:pPr>
              <a:defRPr sz="2800"/>
            </a:pPr>
            <a:r>
              <a:rPr lang="en-US" dirty="0"/>
              <a:t>Finds minimum and maximum satisfaction per disease.</a:t>
            </a:r>
          </a:p>
          <a:p>
            <a:pPr>
              <a:defRPr sz="2800"/>
            </a:pPr>
            <a:r>
              <a:rPr lang="en-US" dirty="0"/>
              <a:t>→ Evaluates variability of patient experience across conditions.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D5EAE5-21B4-82A5-BBD9-5AF6EB29C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967" y="2631921"/>
            <a:ext cx="4315427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971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A1717-1CCB-F2C9-305C-F0B44B614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A69F4E-C58B-C012-4842-90BEC8EB8C9A}"/>
              </a:ext>
            </a:extLst>
          </p:cNvPr>
          <p:cNvSpPr txBox="1"/>
          <p:nvPr/>
        </p:nvSpPr>
        <p:spPr>
          <a:xfrm>
            <a:off x="2018096" y="621324"/>
            <a:ext cx="938142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rPr lang="en-US" b="1" dirty="0"/>
              <a:t>Follow Up percentage </a:t>
            </a:r>
          </a:p>
          <a:p>
            <a:pPr>
              <a:defRPr sz="2800"/>
            </a:pPr>
            <a:r>
              <a:rPr lang="en-US" dirty="0"/>
              <a:t>Finds how the patients are follow up their treatment.</a:t>
            </a:r>
          </a:p>
          <a:p>
            <a:pPr>
              <a:defRPr sz="2800"/>
            </a:pPr>
            <a:r>
              <a:rPr lang="en-US" dirty="0"/>
              <a:t>→ Show the almost 70% of people were not following up their treatments.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AD84EC-C417-EBA0-2670-70D224E3C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039" y="3124199"/>
            <a:ext cx="6058746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5278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3A735-5924-056D-94E9-4902B1680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4D81D7-65F4-98E3-73AE-4B6DD30E3815}"/>
              </a:ext>
            </a:extLst>
          </p:cNvPr>
          <p:cNvSpPr txBox="1"/>
          <p:nvPr/>
        </p:nvSpPr>
        <p:spPr>
          <a:xfrm>
            <a:off x="1667576" y="682284"/>
            <a:ext cx="938142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rPr lang="en-US" b="1" dirty="0"/>
              <a:t>Top 5 Most Expensive Treatments</a:t>
            </a:r>
          </a:p>
          <a:p>
            <a:pPr>
              <a:defRPr sz="2800"/>
            </a:pPr>
            <a:r>
              <a:rPr lang="en-US" dirty="0"/>
              <a:t>Finds how the top 5 treatments cost.</a:t>
            </a:r>
          </a:p>
          <a:p>
            <a:pPr>
              <a:defRPr sz="2800"/>
            </a:pPr>
            <a:r>
              <a:rPr lang="en-US" dirty="0"/>
              <a:t>→ Shows  these patients are has highest treatment cost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1006D5-251E-7B70-1A8B-F2784E6AAE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577"/>
          <a:stretch>
            <a:fillRect/>
          </a:stretch>
        </p:blipFill>
        <p:spPr>
          <a:xfrm>
            <a:off x="1667576" y="2612280"/>
            <a:ext cx="9849970" cy="356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3824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5F234C-CA94-52FC-AB54-29DE95B806D1}"/>
              </a:ext>
            </a:extLst>
          </p:cNvPr>
          <p:cNvSpPr txBox="1"/>
          <p:nvPr/>
        </p:nvSpPr>
        <p:spPr>
          <a:xfrm>
            <a:off x="2086083" y="992073"/>
            <a:ext cx="866273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a-IN" sz="2400" b="1" dirty="0"/>
              <a:t>Patient Count by Gender</a:t>
            </a:r>
            <a:endParaRPr lang="en-US" sz="2400" b="1" dirty="0"/>
          </a:p>
          <a:p>
            <a:r>
              <a:rPr lang="ta-IN" sz="2400" dirty="0"/>
              <a:t>Groups data by gender and counts patients.</a:t>
            </a:r>
            <a:endParaRPr lang="en-US" sz="2400" dirty="0"/>
          </a:p>
          <a:p>
            <a:r>
              <a:rPr lang="ta-IN" sz="2400" dirty="0"/>
              <a:t>→ Highlights gender representation and balance in healthcare access.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DFEF51-2524-0D86-E74F-B860033C8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375" y="2360755"/>
            <a:ext cx="5594873" cy="41820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886F5F-8D76-8CE3-BEF0-E7451334C8EA}"/>
              </a:ext>
            </a:extLst>
          </p:cNvPr>
          <p:cNvSpPr txBox="1"/>
          <p:nvPr/>
        </p:nvSpPr>
        <p:spPr>
          <a:xfrm>
            <a:off x="1357182" y="468853"/>
            <a:ext cx="48093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rPr lang="en-US" dirty="0"/>
              <a:t>STEP 2 : DATA VISUALIZATION 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6400" y="827773"/>
            <a:ext cx="101193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rPr lang="en-US" b="1" dirty="0"/>
              <a:t>Average Treatment Cost by Department</a:t>
            </a:r>
          </a:p>
          <a:p>
            <a:pPr>
              <a:defRPr sz="2800"/>
            </a:pPr>
            <a:r>
              <a:rPr lang="en-US" dirty="0"/>
              <a:t>Computes mean cost per department.→ Identifies high-spending areas for cost optimization.</a:t>
            </a:r>
            <a:endParaRPr dirty="0"/>
          </a:p>
        </p:txBody>
      </p:sp>
      <p:pic>
        <p:nvPicPr>
          <p:cNvPr id="3" name="Picture 2" descr="char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377440"/>
            <a:ext cx="9250680" cy="4191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94560" y="731520"/>
            <a:ext cx="7871065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lang="en-US" b="1" dirty="0"/>
              <a:t>Proportion of patient visits by city</a:t>
            </a:r>
          </a:p>
          <a:p>
            <a:pPr>
              <a:defRPr sz="2800"/>
            </a:pPr>
            <a:r>
              <a:rPr lang="en-US" dirty="0"/>
              <a:t>Proportion of each city .</a:t>
            </a:r>
          </a:p>
          <a:p>
            <a:pPr>
              <a:defRPr sz="2800"/>
            </a:pPr>
            <a:r>
              <a:rPr lang="en-US" dirty="0"/>
              <a:t>→ Detects  health issues in city treated in the hospital.</a:t>
            </a:r>
            <a:endParaRPr dirty="0"/>
          </a:p>
        </p:txBody>
      </p:sp>
      <p:pic>
        <p:nvPicPr>
          <p:cNvPr id="3" name="Picture 2" descr="char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469" y="2575560"/>
            <a:ext cx="6553200" cy="3276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38687" y="563880"/>
            <a:ext cx="9511450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lang="en-US" b="1" dirty="0"/>
              <a:t>City with Highest Average Treatment Cost</a:t>
            </a:r>
          </a:p>
          <a:p>
            <a:pPr>
              <a:defRPr sz="2800"/>
            </a:pPr>
            <a:r>
              <a:rPr lang="en-US" dirty="0"/>
              <a:t>Finds highest average treatment cost by city.</a:t>
            </a:r>
          </a:p>
          <a:p>
            <a:pPr>
              <a:defRPr sz="2800"/>
            </a:pPr>
            <a:r>
              <a:rPr lang="en-US" dirty="0"/>
              <a:t>→ Show the </a:t>
            </a:r>
            <a:r>
              <a:rPr lang="en-US" dirty="0" err="1"/>
              <a:t>los</a:t>
            </a:r>
            <a:r>
              <a:rPr lang="en-US" dirty="0"/>
              <a:t> angles has highest treatment cost than other city .</a:t>
            </a:r>
          </a:p>
          <a:p>
            <a:pPr>
              <a:defRPr sz="2800"/>
            </a:pPr>
            <a:endParaRPr dirty="0"/>
          </a:p>
        </p:txBody>
      </p:sp>
      <p:pic>
        <p:nvPicPr>
          <p:cNvPr id="3" name="Picture 2" descr="char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697" y="2240280"/>
            <a:ext cx="8321040" cy="4160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60" y="817900"/>
            <a:ext cx="10581230" cy="22467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lang="en-US" b="1" dirty="0"/>
              <a:t>Diagnosis Distribution type by Department</a:t>
            </a:r>
          </a:p>
          <a:p>
            <a:pPr>
              <a:defRPr sz="2800"/>
            </a:pPr>
            <a:r>
              <a:rPr lang="en-US" dirty="0"/>
              <a:t>Finds distribution of diagnosis by Departments.</a:t>
            </a:r>
          </a:p>
          <a:p>
            <a:pPr>
              <a:defRPr sz="2800"/>
            </a:pPr>
            <a:r>
              <a:rPr lang="en-US" dirty="0"/>
              <a:t>→ Show the neurology has the lowest distribution than other department .</a:t>
            </a:r>
          </a:p>
          <a:p>
            <a:pPr>
              <a:defRPr sz="2800"/>
            </a:pPr>
            <a:endParaRPr lang="en-US" dirty="0"/>
          </a:p>
          <a:p>
            <a:pPr>
              <a:defRPr sz="2800"/>
            </a:pPr>
            <a:endParaRPr dirty="0"/>
          </a:p>
        </p:txBody>
      </p:sp>
      <p:pic>
        <p:nvPicPr>
          <p:cNvPr id="3" name="Picture 2" descr="char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640" y="2499340"/>
            <a:ext cx="5723572" cy="4104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01965" y="309860"/>
            <a:ext cx="1005183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rPr lang="en-US" b="1" dirty="0"/>
              <a:t>Decades with number of visits</a:t>
            </a:r>
          </a:p>
          <a:p>
            <a:pPr>
              <a:defRPr sz="2800"/>
            </a:pPr>
            <a:r>
              <a:rPr lang="en-US" dirty="0"/>
              <a:t>Finds which Decades has the highest and lowest no of visitors.</a:t>
            </a:r>
          </a:p>
          <a:p>
            <a:pPr>
              <a:defRPr sz="2800"/>
            </a:pPr>
            <a:r>
              <a:rPr lang="en-US" dirty="0"/>
              <a:t>→ Shows 10s (patients age who lesser than 20) related patients are the lowest</a:t>
            </a:r>
          </a:p>
        </p:txBody>
      </p:sp>
      <p:pic>
        <p:nvPicPr>
          <p:cNvPr id="3" name="Picture 2" descr="chart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311420"/>
            <a:ext cx="8473440" cy="4236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E476F-1128-59FF-5299-1A8AFC69B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DDEF6F-9355-4A56-3A06-9DC83B390449}"/>
              </a:ext>
            </a:extLst>
          </p:cNvPr>
          <p:cNvSpPr txBox="1"/>
          <p:nvPr/>
        </p:nvSpPr>
        <p:spPr>
          <a:xfrm>
            <a:off x="1195136" y="1511353"/>
            <a:ext cx="1018914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Key Takeaways:</a:t>
            </a:r>
          </a:p>
          <a:p>
            <a:endParaRPr lang="en-US" sz="2400" dirty="0"/>
          </a:p>
          <a:p>
            <a:r>
              <a:rPr lang="en-US" sz="2400" b="1" dirty="0"/>
              <a:t>Cardiology</a:t>
            </a:r>
            <a:r>
              <a:rPr lang="en-US" sz="2400" dirty="0"/>
              <a:t> recorded the highest number of patients and treatment costs.</a:t>
            </a:r>
          </a:p>
          <a:p>
            <a:r>
              <a:rPr lang="en-US" sz="2400" b="1" dirty="0"/>
              <a:t>Age group 30–39 years</a:t>
            </a:r>
            <a:r>
              <a:rPr lang="en-US" sz="2400" dirty="0"/>
              <a:t> had the most frequent visits.</a:t>
            </a:r>
          </a:p>
          <a:p>
            <a:r>
              <a:rPr lang="en-US" sz="2400" b="1" dirty="0"/>
              <a:t>Female patients</a:t>
            </a:r>
            <a:r>
              <a:rPr lang="en-US" sz="2400" dirty="0"/>
              <a:t> showed slightly higher satisfaction scores.</a:t>
            </a:r>
          </a:p>
          <a:p>
            <a:r>
              <a:rPr lang="en-US" sz="2400" b="1" dirty="0"/>
              <a:t>30% of patients</a:t>
            </a:r>
            <a:r>
              <a:rPr lang="en-US" sz="2400" dirty="0"/>
              <a:t> returned for follow-up visits.</a:t>
            </a:r>
          </a:p>
          <a:p>
            <a:r>
              <a:rPr lang="en-US" sz="2400" dirty="0"/>
              <a:t>A </a:t>
            </a:r>
            <a:r>
              <a:rPr lang="en-US" sz="2400" b="1" dirty="0"/>
              <a:t>positive correlation</a:t>
            </a:r>
            <a:r>
              <a:rPr lang="en-US" sz="2400" dirty="0"/>
              <a:t> between age and treatment cost suggests older patients generally incur higher expenses.</a:t>
            </a:r>
          </a:p>
        </p:txBody>
      </p:sp>
    </p:spTree>
    <p:extLst>
      <p:ext uri="{BB962C8B-B14F-4D97-AF65-F5344CB8AC3E}">
        <p14:creationId xmlns:p14="http://schemas.microsoft.com/office/powerpoint/2010/main" val="29531925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7CBE1-9404-A4F7-30E2-283B7F03C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39EA01-1B2B-EEA0-A0B2-505DE865B818}"/>
              </a:ext>
            </a:extLst>
          </p:cNvPr>
          <p:cNvSpPr txBox="1"/>
          <p:nvPr/>
        </p:nvSpPr>
        <p:spPr>
          <a:xfrm>
            <a:off x="1251878" y="1481773"/>
            <a:ext cx="18325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rPr lang="en-IN" b="1" dirty="0"/>
              <a:t>Conclusion</a:t>
            </a:r>
            <a:endParaRPr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7D99F4-63EB-E795-C02D-904CC50894C4}"/>
              </a:ext>
            </a:extLst>
          </p:cNvPr>
          <p:cNvSpPr txBox="1"/>
          <p:nvPr/>
        </p:nvSpPr>
        <p:spPr>
          <a:xfrm>
            <a:off x="1251878" y="2274838"/>
            <a:ext cx="968506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This project successfully demonstrates how </a:t>
            </a:r>
            <a:r>
              <a:rPr lang="en-US" sz="2400" b="1" dirty="0"/>
              <a:t>Python</a:t>
            </a:r>
            <a:r>
              <a:rPr lang="en-US" sz="2400" dirty="0"/>
              <a:t> and </a:t>
            </a:r>
            <a:r>
              <a:rPr lang="en-US" sz="2400" b="1" dirty="0"/>
              <a:t>SQL</a:t>
            </a:r>
            <a:r>
              <a:rPr lang="en-US" sz="2400" dirty="0"/>
              <a:t> can be integrated to perform effective </a:t>
            </a:r>
            <a:r>
              <a:rPr lang="en-US" sz="2400" b="1" dirty="0"/>
              <a:t>healthcare data analysis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By examining patient demographics, treatment costs, satisfaction levels, and follow-up patterns, valuable insights were discovered that can guide hospital management decisions.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578084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E3731-EFBF-F799-0749-B9AB21474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3D93E-E1E4-5B12-DCA5-00F2A9FCE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3692" y="2552066"/>
            <a:ext cx="3826828" cy="1470025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52107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160</TotalTime>
  <Words>613</Words>
  <Application>Microsoft Office PowerPoint</Application>
  <PresentationFormat>Custom</PresentationFormat>
  <Paragraphs>71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Tw Cen MT</vt:lpstr>
      <vt:lpstr>Circuit</vt:lpstr>
      <vt:lpstr>HEALTH CARE Data Analysis Insights –SQL +Python +  jupyter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keerthana S</cp:lastModifiedBy>
  <cp:revision>5</cp:revision>
  <dcterms:created xsi:type="dcterms:W3CDTF">2013-01-27T09:14:16Z</dcterms:created>
  <dcterms:modified xsi:type="dcterms:W3CDTF">2025-12-16T07:24:22Z</dcterms:modified>
  <cp:category/>
</cp:coreProperties>
</file>